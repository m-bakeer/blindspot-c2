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</p:sldMasterIdLst>
  <p:notesMasterIdLst>
    <p:notesMasterId r:id="rId15"/>
  </p:notesMasterIdLst>
  <p:sldIdLst>
    <p:sldId id="270" r:id="rId6"/>
    <p:sldId id="271" r:id="rId7"/>
    <p:sldId id="258" r:id="rId8"/>
    <p:sldId id="259" r:id="rId9"/>
    <p:sldId id="260" r:id="rId10"/>
    <p:sldId id="261" r:id="rId11"/>
    <p:sldId id="262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AAD"/>
    <a:srgbClr val="6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643611-BE51-40FB-B589-3BCA460EF4C6}" v="96" dt="2026-08-14T17:58:47.117"/>
    <p1510:client id="{9C6B1797-33C1-4A5C-A889-BE77CA3FACB8}" v="285" dt="2026-08-14T18:25:59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4C7F-B47D-4C15-B788-5E80BE28534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48BB87-7146-4BC6-A3E3-1628783BA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27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B7AD9-4FE0-4D37-87E6-44305939F8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66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48BB87-7146-4BC6-A3E3-1628783BAB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2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8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0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8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45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230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690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28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7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782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9620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01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2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956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TextBox 3"/>
          <p:cNvSpPr txBox="1"/>
          <p:nvPr/>
        </p:nvSpPr>
        <p:spPr>
          <a:xfrm>
            <a:off x="2813970" y="2857843"/>
            <a:ext cx="6564057" cy="901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15"/>
              </a:lnSpc>
            </a:pPr>
            <a:r>
              <a:rPr lang="en-US" sz="5500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BlindSpot-C2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53724" y="3896739"/>
            <a:ext cx="5684551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600">
                <a:solidFill>
                  <a:srgbClr val="475569"/>
                </a:solidFill>
                <a:latin typeface="Aptos"/>
              </a:rPr>
              <a:t>DoH + DGA malware vs. a defensive TLS VPN architecture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163299" y="2594572"/>
            <a:ext cx="2057400" cy="1568217"/>
            <a:chOff x="0" y="-47625"/>
            <a:chExt cx="812800" cy="6195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  <a:ln>
              <a:noFill/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72DEAF32-1EA1-25AB-9D16-928BA91996C3}"/>
              </a:ext>
            </a:extLst>
          </p:cNvPr>
          <p:cNvGrpSpPr/>
          <p:nvPr/>
        </p:nvGrpSpPr>
        <p:grpSpPr>
          <a:xfrm>
            <a:off x="-1028704" y="2524340"/>
            <a:ext cx="2057400" cy="1568217"/>
            <a:chOff x="0" y="-47625"/>
            <a:chExt cx="812800" cy="619542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A03C01F-4083-7468-CB23-0FB890C22B8B}"/>
                </a:ext>
              </a:extLst>
            </p:cNvPr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00B9C3A6-DE4F-F810-74A6-A9CDD5C2421F}"/>
                </a:ext>
              </a:extLst>
            </p:cNvPr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  <a:ln>
              <a:noFill/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5800" y="5998633"/>
            <a:ext cx="1676400" cy="173567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45300" y="417083"/>
            <a:ext cx="4196589" cy="5903284"/>
            <a:chOff x="0" y="-47625"/>
            <a:chExt cx="1657912" cy="23321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57912" cy="2284537"/>
            </a:xfrm>
            <a:custGeom>
              <a:avLst/>
              <a:gdLst/>
              <a:ahLst/>
              <a:cxnLst/>
              <a:rect l="l" t="t" r="r" b="b"/>
              <a:pathLst>
                <a:path w="1657912" h="2284537">
                  <a:moveTo>
                    <a:pt x="62724" y="0"/>
                  </a:moveTo>
                  <a:lnTo>
                    <a:pt x="1595188" y="0"/>
                  </a:lnTo>
                  <a:cubicBezTo>
                    <a:pt x="1611824" y="0"/>
                    <a:pt x="1627778" y="6608"/>
                    <a:pt x="1639541" y="18371"/>
                  </a:cubicBezTo>
                  <a:cubicBezTo>
                    <a:pt x="1651304" y="30134"/>
                    <a:pt x="1657912" y="46088"/>
                    <a:pt x="1657912" y="62724"/>
                  </a:cubicBezTo>
                  <a:lnTo>
                    <a:pt x="1657912" y="2221813"/>
                  </a:lnTo>
                  <a:cubicBezTo>
                    <a:pt x="1657912" y="2256454"/>
                    <a:pt x="1629830" y="2284537"/>
                    <a:pt x="1595188" y="2284537"/>
                  </a:cubicBezTo>
                  <a:lnTo>
                    <a:pt x="62724" y="2284537"/>
                  </a:lnTo>
                  <a:cubicBezTo>
                    <a:pt x="46088" y="2284537"/>
                    <a:pt x="30134" y="2277928"/>
                    <a:pt x="18371" y="2266165"/>
                  </a:cubicBezTo>
                  <a:cubicBezTo>
                    <a:pt x="6608" y="2254403"/>
                    <a:pt x="0" y="2238448"/>
                    <a:pt x="0" y="2221813"/>
                  </a:cubicBezTo>
                  <a:lnTo>
                    <a:pt x="0" y="62724"/>
                  </a:lnTo>
                  <a:cubicBezTo>
                    <a:pt x="0" y="46088"/>
                    <a:pt x="6608" y="30134"/>
                    <a:pt x="18371" y="18371"/>
                  </a:cubicBezTo>
                  <a:cubicBezTo>
                    <a:pt x="30134" y="6608"/>
                    <a:pt x="46088" y="0"/>
                    <a:pt x="62724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57912" cy="233216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4189EAA-6EE7-DCB5-A204-51B930942196}"/>
              </a:ext>
            </a:extLst>
          </p:cNvPr>
          <p:cNvGrpSpPr/>
          <p:nvPr/>
        </p:nvGrpSpPr>
        <p:grpSpPr>
          <a:xfrm>
            <a:off x="458560" y="2512664"/>
            <a:ext cx="4991270" cy="1182620"/>
            <a:chOff x="685800" y="609600"/>
            <a:chExt cx="4141990" cy="1182620"/>
          </a:xfrm>
        </p:grpSpPr>
        <p:sp>
          <p:nvSpPr>
            <p:cNvPr id="9" name="TextBox 9"/>
            <p:cNvSpPr txBox="1"/>
            <p:nvPr/>
          </p:nvSpPr>
          <p:spPr>
            <a:xfrm>
              <a:off x="685800" y="1151019"/>
              <a:ext cx="4141990" cy="6412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defTabSz="609630">
                <a:lnSpc>
                  <a:spcPts val="4954"/>
                </a:lnSpc>
              </a:pPr>
              <a:r>
                <a:rPr lang="en-US" sz="4400" b="1" dirty="0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DEMONSTRATION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5800" y="609600"/>
              <a:ext cx="3756383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4808"/>
                </a:lnSpc>
              </a:pPr>
              <a:r>
                <a:rPr lang="en-US" sz="4400" b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PROJECT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88859" y="2780679"/>
            <a:ext cx="1245511" cy="124551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80739" y="4550523"/>
            <a:ext cx="1245511" cy="124551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057215" y="2888833"/>
            <a:ext cx="1092557" cy="855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7335"/>
              </a:lnSpc>
            </a:pPr>
            <a:r>
              <a:rPr lang="en-US" sz="524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57215" y="4647270"/>
            <a:ext cx="1092557" cy="855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7335"/>
              </a:lnSpc>
            </a:pPr>
            <a:r>
              <a:rPr lang="en-US" sz="524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80321" y="1323488"/>
            <a:ext cx="3526546" cy="671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171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Two Tunneling techniques, defensive and offensive approaches: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19432" y="3017592"/>
            <a:ext cx="3237394" cy="867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1710"/>
              </a:lnSpc>
              <a:spcBef>
                <a:spcPct val="0"/>
              </a:spcBef>
            </a:pPr>
            <a:r>
              <a:rPr lang="en-US" sz="1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Real-World Malware offensive attack mapped to MITRE ATT&amp;CK focused on Command and Control (C2).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39508" y="4753164"/>
            <a:ext cx="3237394" cy="1092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171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Network isolation defensive solution, using a VPN implementation to isolate the victim machine and eliminate public internet exposure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5D26A7-C257-063B-A92E-C11F815F35AB}"/>
              </a:ext>
            </a:extLst>
          </p:cNvPr>
          <p:cNvSpPr/>
          <p:nvPr/>
        </p:nvSpPr>
        <p:spPr>
          <a:xfrm>
            <a:off x="7065898" y="2115671"/>
            <a:ext cx="3755391" cy="4571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4068" y="812117"/>
            <a:ext cx="11301984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3200" b="1" dirty="0">
                <a:solidFill>
                  <a:srgbClr val="004AAD"/>
                </a:solidFill>
                <a:latin typeface="Aptos"/>
              </a:rPr>
              <a:t>MITRE ATT&amp;CK: </a:t>
            </a:r>
            <a:r>
              <a:rPr lang="en-US" sz="3200" b="1" dirty="0">
                <a:solidFill>
                  <a:srgbClr val="0F172A"/>
                </a:solidFill>
                <a:latin typeface="Aptos"/>
              </a:rPr>
              <a:t>three malware techniques</a:t>
            </a:r>
            <a:endParaRPr sz="3200" b="1" dirty="0">
              <a:solidFill>
                <a:srgbClr val="0F172A"/>
              </a:solidFill>
              <a:latin typeface="Apto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6034811-7C22-8FEF-6DD5-8090CA5DCD93}"/>
              </a:ext>
            </a:extLst>
          </p:cNvPr>
          <p:cNvGrpSpPr/>
          <p:nvPr/>
        </p:nvGrpSpPr>
        <p:grpSpPr>
          <a:xfrm>
            <a:off x="685800" y="2103120"/>
            <a:ext cx="11018520" cy="2057400"/>
            <a:chOff x="685800" y="1645920"/>
            <a:chExt cx="11018520" cy="2057400"/>
          </a:xfrm>
        </p:grpSpPr>
        <p:sp>
          <p:nvSpPr>
            <p:cNvPr id="4" name="Rounded Rectangle 3"/>
            <p:cNvSpPr/>
            <p:nvPr/>
          </p:nvSpPr>
          <p:spPr>
            <a:xfrm>
              <a:off x="685800" y="1645920"/>
              <a:ext cx="3337560" cy="2057400"/>
            </a:xfrm>
            <a:prstGeom prst="roundRect">
              <a:avLst/>
            </a:prstGeom>
            <a:solidFill>
              <a:srgbClr val="F5F3FF"/>
            </a:solidFill>
            <a:ln w="1524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874519"/>
              <a:ext cx="1097280" cy="310896"/>
            </a:xfrm>
            <a:prstGeom prst="round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ptos"/>
                </a:rPr>
                <a:t>T1568.002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304288"/>
              <a:ext cx="2834640" cy="5943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000" b="1">
                  <a:solidFill>
                    <a:srgbClr val="0F172A"/>
                  </a:solidFill>
                  <a:latin typeface="Aptos"/>
                </a:rPr>
                <a:t>Dynamic Resolution:
DGA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2966222"/>
              <a:ext cx="2788920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475569"/>
                  </a:solidFill>
                  <a:latin typeface="Aptos"/>
                </a:rPr>
                <a:t>Generates changing C2 domains</a:t>
              </a:r>
              <a:r>
                <a:rPr lang="en-US" sz="1400" b="0">
                  <a:solidFill>
                    <a:srgbClr val="475569"/>
                  </a:solidFill>
                  <a:latin typeface="Aptos"/>
                </a:rPr>
                <a:t> to hide the real domain</a:t>
              </a:r>
              <a:endParaRPr sz="1400" b="0">
                <a:solidFill>
                  <a:srgbClr val="475569"/>
                </a:solidFill>
                <a:latin typeface="Aptos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526280" y="1645920"/>
              <a:ext cx="3337560" cy="2057400"/>
            </a:xfrm>
            <a:prstGeom prst="roundRect">
              <a:avLst/>
            </a:prstGeom>
            <a:solidFill>
              <a:srgbClr val="EFF6FF"/>
            </a:solidFill>
            <a:ln w="1524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754880" y="1874519"/>
              <a:ext cx="1097280" cy="310896"/>
            </a:xfrm>
            <a:prstGeom prst="roundRect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T1071.004</a:t>
              </a:r>
              <a:endParaRPr sz="1200" b="1" dirty="0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54880" y="2247525"/>
              <a:ext cx="2834640" cy="70788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0F172A"/>
                  </a:solidFill>
                  <a:latin typeface="Aptos"/>
                </a:rPr>
                <a:t>Application Layer: DNS</a:t>
              </a:r>
              <a:endParaRPr sz="2000" b="1" dirty="0">
                <a:solidFill>
                  <a:srgbClr val="0F172A"/>
                </a:solidFill>
                <a:latin typeface="Apto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754880" y="2966222"/>
              <a:ext cx="2788920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en-US" sz="1400" b="0" dirty="0">
                  <a:solidFill>
                    <a:srgbClr val="475569"/>
                  </a:solidFill>
                  <a:latin typeface="Aptos"/>
                </a:rPr>
                <a:t>DNS used as the C2 application protocol for data exfiltration</a:t>
              </a:r>
              <a:endParaRPr sz="1400" b="0" dirty="0">
                <a:solidFill>
                  <a:srgbClr val="475569"/>
                </a:solidFill>
                <a:latin typeface="Aptos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366760" y="1645920"/>
              <a:ext cx="3337560" cy="2057400"/>
            </a:xfrm>
            <a:prstGeom prst="roundRect">
              <a:avLst/>
            </a:prstGeom>
            <a:solidFill>
              <a:srgbClr val="ECFEFF"/>
            </a:solidFill>
            <a:ln w="1524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595360" y="1874519"/>
              <a:ext cx="1097280" cy="310896"/>
            </a:xfrm>
            <a:prstGeom prst="roundRect">
              <a:avLst/>
            </a:prstGeom>
            <a:solidFill>
              <a:srgbClr val="06B6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200" b="1" dirty="0">
                  <a:solidFill>
                    <a:srgbClr val="FFFFFF"/>
                  </a:solidFill>
                  <a:latin typeface="Aptos"/>
                </a:rPr>
                <a:t>T1</a:t>
              </a:r>
              <a:r>
                <a:rPr lang="en-US" sz="1200" b="1" dirty="0">
                  <a:solidFill>
                    <a:srgbClr val="FFFFFF"/>
                  </a:solidFill>
                  <a:latin typeface="Aptos"/>
                </a:rPr>
                <a:t>572</a:t>
              </a:r>
              <a:endParaRPr sz="1200" b="1" dirty="0">
                <a:solidFill>
                  <a:srgbClr val="FFFFFF"/>
                </a:solidFill>
                <a:latin typeface="Aptos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595360" y="2247525"/>
              <a:ext cx="2834640" cy="70788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0F172A"/>
                  </a:solidFill>
                  <a:latin typeface="Aptos"/>
                </a:rPr>
                <a:t>Protocol Tunneling: </a:t>
              </a:r>
              <a:r>
                <a:rPr lang="en-US" sz="2000" b="1" dirty="0" err="1">
                  <a:solidFill>
                    <a:srgbClr val="0F172A"/>
                  </a:solidFill>
                  <a:latin typeface="Aptos"/>
                </a:rPr>
                <a:t>DoH</a:t>
              </a:r>
              <a:endParaRPr sz="2000" b="1" dirty="0">
                <a:solidFill>
                  <a:srgbClr val="0F172A"/>
                </a:solidFill>
                <a:latin typeface="Apto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595360" y="2966222"/>
              <a:ext cx="2788920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400" dirty="0">
                  <a:solidFill>
                    <a:srgbClr val="475569"/>
                  </a:solidFill>
                  <a:latin typeface="Aptos"/>
                </a:rPr>
                <a:t>DNS carried inside encrypted HTTPS request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49808" y="416052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KEY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39" y="4649837"/>
            <a:ext cx="2788921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600">
                <a:solidFill>
                  <a:srgbClr val="004AAD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Cloudflare DoH Resolver</a:t>
            </a:r>
            <a:endParaRPr lang="en-US" sz="1600" dirty="0">
              <a:solidFill>
                <a:srgbClr val="004AAD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3CB41B-0D68-2B93-5CCA-920C186D11E4}"/>
              </a:ext>
            </a:extLst>
          </p:cNvPr>
          <p:cNvSpPr txBox="1"/>
          <p:nvPr/>
        </p:nvSpPr>
        <p:spPr>
          <a:xfrm>
            <a:off x="4023360" y="4649837"/>
            <a:ext cx="44485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4AAD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IJWGS3TEKNYG65BNIMZA.example.com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184DAA-4313-F932-F8E5-10379B129959}"/>
              </a:ext>
            </a:extLst>
          </p:cNvPr>
          <p:cNvSpPr txBox="1"/>
          <p:nvPr/>
        </p:nvSpPr>
        <p:spPr>
          <a:xfrm>
            <a:off x="1125058" y="4462163"/>
            <a:ext cx="21393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4AAD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applecloud.com    </a:t>
            </a:r>
            <a:r>
              <a:rPr lang="en-US" sz="160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✘</a:t>
            </a:r>
          </a:p>
          <a:p>
            <a:r>
              <a:rPr lang="en-US" sz="1600" dirty="0">
                <a:solidFill>
                  <a:srgbClr val="004AAD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bluestorm.net       </a:t>
            </a:r>
            <a:r>
              <a:rPr lang="en-US" sz="160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✘</a:t>
            </a:r>
          </a:p>
          <a:p>
            <a:r>
              <a:rPr lang="en-US" sz="1600" dirty="0">
                <a:solidFill>
                  <a:srgbClr val="004AAD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evil-c2.io	               </a:t>
            </a: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</a:rPr>
              <a:t>✔</a:t>
            </a:r>
            <a:r>
              <a:rPr lang="en-US" sz="1600" b="1" dirty="0"/>
              <a:t> </a:t>
            </a:r>
            <a:r>
              <a:rPr lang="en-US" sz="1600" dirty="0">
                <a:solidFill>
                  <a:srgbClr val="004AAD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</a:t>
            </a:r>
          </a:p>
          <a:p>
            <a:r>
              <a:rPr lang="en-US" sz="1600" dirty="0">
                <a:solidFill>
                  <a:srgbClr val="004AAD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greenlight.org      </a:t>
            </a:r>
            <a:r>
              <a:rPr lang="en-US" sz="160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✘</a:t>
            </a:r>
            <a:r>
              <a:rPr lang="en-US" sz="1600" dirty="0">
                <a:solidFill>
                  <a:srgbClr val="004AAD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11480"/>
            <a:ext cx="1783080" cy="31089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SCENARIO • 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6217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Exposed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874519" cy="31089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NO PERIMETER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4960508"/>
            <a:ext cx="10698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600" b="0">
                <a:solidFill>
                  <a:srgbClr val="475569"/>
                </a:solidFill>
                <a:latin typeface="Aptos"/>
              </a:rPr>
              <a:t>Victim </a:t>
            </a:r>
            <a:r>
              <a:rPr sz="1600" b="0">
                <a:solidFill>
                  <a:srgbClr val="475569"/>
                </a:solidFill>
                <a:latin typeface="Aptos"/>
              </a:rPr>
              <a:t>talks straight to the open Internet. </a:t>
            </a:r>
            <a:r>
              <a:rPr lang="en-US" sz="1600" b="0">
                <a:solidFill>
                  <a:srgbClr val="475569"/>
                </a:solidFill>
                <a:latin typeface="Aptos"/>
              </a:rPr>
              <a:t>every open port, unpatched service, misconfiguration can be exploited.</a:t>
            </a:r>
            <a:endParaRPr sz="1600" b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ECF139E-7ABE-ADF9-A272-439EC0756779}"/>
              </a:ext>
            </a:extLst>
          </p:cNvPr>
          <p:cNvGrpSpPr/>
          <p:nvPr/>
        </p:nvGrpSpPr>
        <p:grpSpPr>
          <a:xfrm>
            <a:off x="594360" y="2653989"/>
            <a:ext cx="10533888" cy="1380745"/>
            <a:chOff x="530352" y="2002535"/>
            <a:chExt cx="10533888" cy="1380745"/>
          </a:xfrm>
        </p:grpSpPr>
        <p:sp>
          <p:nvSpPr>
            <p:cNvPr id="5" name="Rounded Rectangle 4"/>
            <p:cNvSpPr/>
            <p:nvPr/>
          </p:nvSpPr>
          <p:spPr>
            <a:xfrm>
              <a:off x="530352" y="2331720"/>
              <a:ext cx="1938527" cy="1051560"/>
            </a:xfrm>
            <a:prstGeom prst="roundRect">
              <a:avLst/>
            </a:prstGeom>
            <a:solidFill>
              <a:srgbClr val="FFFFFF"/>
            </a:solidFill>
            <a:ln w="17780">
              <a:solidFill>
                <a:srgbClr val="FCA5A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000" b="1">
                  <a:solidFill>
                    <a:srgbClr val="DC2626"/>
                  </a:solidFill>
                  <a:latin typeface="Aptos"/>
                </a:rPr>
                <a:t>ATTACKER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372867" y="2006548"/>
              <a:ext cx="996696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100" b="1">
                  <a:solidFill>
                    <a:schemeClr val="tx2">
                      <a:lumMod val="50000"/>
                    </a:schemeClr>
                  </a:solidFill>
                  <a:latin typeface="Aptos"/>
                </a:rPr>
                <a:t>Direct
connection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218687" y="2331720"/>
              <a:ext cx="2194561" cy="1051560"/>
            </a:xfrm>
            <a:prstGeom prst="roundRect">
              <a:avLst/>
            </a:prstGeom>
            <a:solidFill>
              <a:srgbClr val="FFFFFF"/>
            </a:solidFill>
            <a:ln w="17780">
              <a:solidFill>
                <a:srgbClr val="FCA5A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000" b="1">
                  <a:solidFill>
                    <a:srgbClr val="DC2626"/>
                  </a:solidFill>
                  <a:latin typeface="Aptos"/>
                </a:rPr>
                <a:t>TARGET SERVER</a:t>
              </a:r>
            </a:p>
          </p:txBody>
        </p:sp>
        <p:cxnSp>
          <p:nvCxnSpPr>
            <p:cNvPr id="9" name="Connector 8"/>
            <p:cNvCxnSpPr>
              <a:cxnSpLocks/>
              <a:endCxn id="11" idx="1"/>
            </p:cNvCxnSpPr>
            <p:nvPr/>
          </p:nvCxnSpPr>
          <p:spPr>
            <a:xfrm>
              <a:off x="5394960" y="2852928"/>
              <a:ext cx="749808" cy="4572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344668" y="2002536"/>
              <a:ext cx="868680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b="1">
                  <a:solidFill>
                    <a:schemeClr val="tx2">
                      <a:lumMod val="50000"/>
                    </a:schemeClr>
                  </a:solidFill>
                  <a:latin typeface="Aptos"/>
                </a:rPr>
                <a:t>DoH</a:t>
              </a:r>
              <a:r>
                <a:rPr sz="1100" b="1">
                  <a:solidFill>
                    <a:schemeClr val="tx2">
                      <a:lumMod val="50000"/>
                    </a:schemeClr>
                  </a:solidFill>
                  <a:latin typeface="Aptos"/>
                </a:rPr>
                <a:t> request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144768" y="2331720"/>
              <a:ext cx="2084832" cy="1051560"/>
            </a:xfrm>
            <a:prstGeom prst="roundRect">
              <a:avLst/>
            </a:prstGeom>
            <a:solidFill>
              <a:srgbClr val="FFFBEB"/>
            </a:solidFill>
            <a:ln w="17780">
              <a:solidFill>
                <a:srgbClr val="FDE6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700" b="1">
                  <a:solidFill>
                    <a:srgbClr val="D97706"/>
                  </a:solidFill>
                  <a:latin typeface="Aptos"/>
                </a:rPr>
                <a:t>DoH RESOLVER</a:t>
              </a:r>
            </a:p>
          </p:txBody>
        </p:sp>
        <p:cxnSp>
          <p:nvCxnSpPr>
            <p:cNvPr id="12" name="Connector 11"/>
            <p:cNvCxnSpPr>
              <a:cxnSpLocks/>
              <a:endCxn id="14" idx="1"/>
            </p:cNvCxnSpPr>
            <p:nvPr/>
          </p:nvCxnSpPr>
          <p:spPr>
            <a:xfrm>
              <a:off x="8229600" y="2852928"/>
              <a:ext cx="731520" cy="4572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8161020" y="2002535"/>
              <a:ext cx="868680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100" b="1">
                  <a:solidFill>
                    <a:schemeClr val="tx2">
                      <a:lumMod val="50000"/>
                    </a:schemeClr>
                  </a:solidFill>
                  <a:latin typeface="Aptos"/>
                </a:rPr>
                <a:t>Encrypted
HTTPS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961120" y="2331720"/>
              <a:ext cx="2103120" cy="1051560"/>
            </a:xfrm>
            <a:prstGeom prst="roundRect">
              <a:avLst/>
            </a:prstGeom>
            <a:solidFill>
              <a:srgbClr val="FFFFFF"/>
            </a:solidFill>
            <a:ln w="17780">
              <a:solidFill>
                <a:srgbClr val="FCA5A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2000" b="1">
                  <a:solidFill>
                    <a:srgbClr val="DC2626"/>
                  </a:solidFill>
                  <a:latin typeface="Aptos"/>
                </a:rPr>
                <a:t>C2 Server</a:t>
              </a:r>
              <a:endParaRPr sz="2000" b="1">
                <a:solidFill>
                  <a:srgbClr val="DC2626"/>
                </a:solidFill>
                <a:latin typeface="Aptos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80A5EC9-7A05-532D-4CF1-9E58C4EEC8DF}"/>
                </a:ext>
              </a:extLst>
            </p:cNvPr>
            <p:cNvCxnSpPr>
              <a:cxnSpLocks/>
              <a:stCxn id="5" idx="3"/>
              <a:endCxn id="8" idx="1"/>
            </p:cNvCxnSpPr>
            <p:nvPr/>
          </p:nvCxnSpPr>
          <p:spPr>
            <a:xfrm>
              <a:off x="2468879" y="2857500"/>
              <a:ext cx="749808" cy="0"/>
            </a:xfrm>
            <a:prstGeom prst="straightConnector1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11480"/>
            <a:ext cx="1691640" cy="3108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SCENARIO •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3404"/>
            <a:ext cx="877824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900" b="1">
                <a:solidFill>
                  <a:srgbClr val="0F172A"/>
                </a:solidFill>
                <a:latin typeface="Aptos"/>
              </a:rPr>
              <a:t>Isolated Behind a Defensive VPN Gateway</a:t>
            </a:r>
            <a:endParaRPr lang="en-US" sz="2900" b="1">
              <a:solidFill>
                <a:srgbClr val="FF0000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874519" cy="3108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ZERO-TRUST PERIMETER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5797739"/>
            <a:ext cx="106070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Aptos"/>
              </a:rPr>
              <a:t>Only the authenticated VPN client can reach </a:t>
            </a:r>
            <a:r>
              <a:rPr lang="en-US" sz="1600" b="0">
                <a:solidFill>
                  <a:srgbClr val="475569"/>
                </a:solidFill>
                <a:latin typeface="Aptos"/>
              </a:rPr>
              <a:t>the target server</a:t>
            </a:r>
            <a:r>
              <a:rPr lang="en-US" sz="1600">
                <a:solidFill>
                  <a:srgbClr val="475569"/>
                </a:solidFill>
                <a:latin typeface="Aptos"/>
              </a:rPr>
              <a:t>, </a:t>
            </a:r>
            <a:r>
              <a:rPr sz="1600" b="0">
                <a:solidFill>
                  <a:srgbClr val="475569"/>
                </a:solidFill>
                <a:latin typeface="Aptos"/>
              </a:rPr>
              <a:t>and </a:t>
            </a:r>
            <a:r>
              <a:rPr lang="en-US" sz="1600" b="0">
                <a:solidFill>
                  <a:srgbClr val="475569"/>
                </a:solidFill>
                <a:latin typeface="Aptos"/>
              </a:rPr>
              <a:t>the server</a:t>
            </a:r>
            <a:r>
              <a:rPr sz="1600" b="0">
                <a:solidFill>
                  <a:srgbClr val="475569"/>
                </a:solidFill>
                <a:latin typeface="Aptos"/>
              </a:rPr>
              <a:t> has no path to the outside world at 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E654CF-15D4-8EF7-C58C-9DD5FFB9EDBC}"/>
              </a:ext>
            </a:extLst>
          </p:cNvPr>
          <p:cNvGrpSpPr/>
          <p:nvPr/>
        </p:nvGrpSpPr>
        <p:grpSpPr>
          <a:xfrm>
            <a:off x="792480" y="2124979"/>
            <a:ext cx="10607040" cy="3035882"/>
            <a:chOff x="210198" y="2084611"/>
            <a:chExt cx="9989934" cy="2979663"/>
          </a:xfrm>
        </p:grpSpPr>
        <p:sp>
          <p:nvSpPr>
            <p:cNvPr id="5" name="Rounded Rectangle 4"/>
            <p:cNvSpPr/>
            <p:nvPr/>
          </p:nvSpPr>
          <p:spPr>
            <a:xfrm>
              <a:off x="242315" y="2308195"/>
              <a:ext cx="2395730" cy="1308035"/>
            </a:xfrm>
            <a:prstGeom prst="roundRect">
              <a:avLst/>
            </a:prstGeom>
            <a:solidFill>
              <a:srgbClr val="FFFFFF"/>
            </a:solidFill>
            <a:ln w="17780">
              <a:solidFill>
                <a:srgbClr val="FCA5A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1200" b="1">
                <a:solidFill>
                  <a:schemeClr val="bg1">
                    <a:lumMod val="50000"/>
                  </a:schemeClr>
                </a:solidFill>
                <a:latin typeface="Aptos"/>
              </a:endParaRPr>
            </a:p>
          </p:txBody>
        </p:sp>
        <p:cxnSp>
          <p:nvCxnSpPr>
            <p:cNvPr id="6" name="Connector 5"/>
            <p:cNvCxnSpPr>
              <a:cxnSpLocks/>
              <a:endCxn id="8" idx="1"/>
            </p:cNvCxnSpPr>
            <p:nvPr/>
          </p:nvCxnSpPr>
          <p:spPr>
            <a:xfrm>
              <a:off x="2662428" y="2861629"/>
              <a:ext cx="964692" cy="4572"/>
            </a:xfrm>
            <a:prstGeom prst="line">
              <a:avLst/>
            </a:prstGeom>
            <a:ln w="30480">
              <a:solidFill>
                <a:srgbClr val="DC262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2634394" y="2333487"/>
              <a:ext cx="950975" cy="83099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C00000"/>
                  </a:solidFill>
                  <a:latin typeface="Aptos"/>
                </a:rPr>
                <a:t>BLOCKED</a:t>
              </a:r>
              <a:endParaRPr lang="en-US" sz="1100" b="1">
                <a:solidFill>
                  <a:srgbClr val="C00000"/>
                </a:solidFill>
                <a:latin typeface="Aptos"/>
              </a:endParaRPr>
            </a:p>
            <a:p>
              <a:pPr algn="ctr"/>
              <a:r>
                <a:rPr lang="en-US" sz="3600" b="1">
                  <a:solidFill>
                    <a:srgbClr val="C00000"/>
                  </a:solidFill>
                  <a:latin typeface="Aptos"/>
                </a:rPr>
                <a:t>ⓧ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627120" y="2157541"/>
              <a:ext cx="2468880" cy="1417320"/>
            </a:xfrm>
            <a:prstGeom prst="roundRect">
              <a:avLst/>
            </a:prstGeom>
            <a:solidFill>
              <a:srgbClr val="EFF6FF"/>
            </a:solidFill>
            <a:ln w="17780"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3600" b="1">
                  <a:solidFill>
                    <a:srgbClr val="2563EB"/>
                  </a:solidFill>
                  <a:latin typeface="Aptos"/>
                </a:rPr>
                <a:t>⛉</a:t>
              </a:r>
            </a:p>
            <a:p>
              <a:pPr algn="ctr"/>
              <a:r>
                <a:rPr b="1">
                  <a:solidFill>
                    <a:srgbClr val="2563EB"/>
                  </a:solidFill>
                  <a:latin typeface="Aptos"/>
                </a:rPr>
                <a:t>VPN GATEWAY</a:t>
              </a:r>
              <a:r>
                <a:rPr sz="1600" b="1">
                  <a:solidFill>
                    <a:srgbClr val="2563EB"/>
                  </a:solidFill>
                  <a:latin typeface="Aptos"/>
                </a:rPr>
                <a:t>
</a:t>
              </a:r>
              <a:r>
                <a:rPr sz="1200" b="1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TLS Tunnel Server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12052" y="3577768"/>
              <a:ext cx="13258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000" b="1">
                  <a:solidFill>
                    <a:srgbClr val="64748B"/>
                  </a:solidFill>
                  <a:latin typeface="Aptos"/>
                </a:rPr>
                <a:t>INTERNAL NETWORK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040118" y="2340421"/>
              <a:ext cx="2468880" cy="1051560"/>
            </a:xfrm>
            <a:prstGeom prst="roundRect">
              <a:avLst/>
            </a:prstGeom>
            <a:solidFill>
              <a:srgbClr val="F0FDF4"/>
            </a:solidFill>
            <a:ln w="17780">
              <a:solidFill>
                <a:srgbClr val="86EF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600" b="1">
                  <a:solidFill>
                    <a:srgbClr val="16A34A"/>
                  </a:solidFill>
                  <a:latin typeface="Aptos"/>
                </a:rPr>
                <a:t>TARGET SERVER
</a:t>
              </a:r>
              <a:r>
                <a:rPr lang="en-US" sz="1200" b="1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Isolated</a:t>
              </a:r>
              <a:endParaRPr lang="en-US" sz="1600" b="1">
                <a:solidFill>
                  <a:schemeClr val="bg1">
                    <a:lumMod val="50000"/>
                  </a:schemeClr>
                </a:solidFill>
                <a:latin typeface="Aptos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924301" y="4241314"/>
              <a:ext cx="1874519" cy="822960"/>
            </a:xfrm>
            <a:prstGeom prst="roundRect">
              <a:avLst/>
            </a:prstGeom>
            <a:solidFill>
              <a:srgbClr val="FFFFFF"/>
            </a:solidFill>
            <a:ln w="17780">
              <a:solidFill>
                <a:srgbClr val="38BDF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500" b="1">
                  <a:solidFill>
                    <a:srgbClr val="06B6D4"/>
                  </a:solidFill>
                  <a:latin typeface="Aptos"/>
                </a:rPr>
                <a:t>AUTHORIZED CLIENT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92979" y="3660866"/>
              <a:ext cx="1005840" cy="5029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100" b="1">
                  <a:solidFill>
                    <a:srgbClr val="06B6D4"/>
                  </a:solidFill>
                  <a:latin typeface="Aptos"/>
                </a:rPr>
                <a:t>Encrypted
TLS Tunnel</a:t>
              </a:r>
            </a:p>
          </p:txBody>
        </p:sp>
        <p:cxnSp>
          <p:nvCxnSpPr>
            <p:cNvPr id="15" name="Connector 14"/>
            <p:cNvCxnSpPr>
              <a:cxnSpLocks/>
              <a:stCxn id="11" idx="2"/>
              <a:endCxn id="16" idx="0"/>
            </p:cNvCxnSpPr>
            <p:nvPr/>
          </p:nvCxnSpPr>
          <p:spPr>
            <a:xfrm>
              <a:off x="8274558" y="3391981"/>
              <a:ext cx="0" cy="688723"/>
            </a:xfrm>
            <a:prstGeom prst="line">
              <a:avLst/>
            </a:prstGeom>
            <a:ln w="31750">
              <a:solidFill>
                <a:srgbClr val="DC262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7200138" y="4080705"/>
              <a:ext cx="2148840" cy="9694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4400" b="1">
                  <a:solidFill>
                    <a:srgbClr val="C00000"/>
                  </a:solidFill>
                  <a:latin typeface="Aptos"/>
                </a:rPr>
                <a:t>ⓧ</a:t>
              </a:r>
              <a:endParaRPr lang="en-US" sz="1300" b="1">
                <a:solidFill>
                  <a:srgbClr val="DC2626"/>
                </a:solidFill>
                <a:latin typeface="Aptos"/>
              </a:endParaRPr>
            </a:p>
            <a:p>
              <a:pPr algn="ctr"/>
              <a:r>
                <a:rPr sz="1300" b="1">
                  <a:solidFill>
                    <a:srgbClr val="DC2626"/>
                  </a:solidFill>
                  <a:latin typeface="Aptos"/>
                </a:rPr>
                <a:t>Outbound Exfil Blocked</a:t>
              </a:r>
              <a:endParaRPr lang="en-US" sz="1400" b="1">
                <a:solidFill>
                  <a:srgbClr val="C00000"/>
                </a:solidFill>
                <a:latin typeface="Apto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B49E8C5-C02E-178B-4E80-EB695F0EE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2600" y="2084611"/>
              <a:ext cx="827532" cy="827532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717014F-2C20-0304-A90E-2170170BD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7286" y="4236854"/>
              <a:ext cx="757427" cy="757427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8A818B-15B8-8EF9-FA3D-0B9D213830F6}"/>
                </a:ext>
              </a:extLst>
            </p:cNvPr>
            <p:cNvSpPr txBox="1"/>
            <p:nvPr/>
          </p:nvSpPr>
          <p:spPr>
            <a:xfrm>
              <a:off x="210198" y="2370510"/>
              <a:ext cx="2405146" cy="1231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tx2"/>
                  </a:solidFill>
                  <a:latin typeface="Aptos"/>
                </a:rPr>
                <a:t>&gt;_</a:t>
              </a:r>
              <a:endParaRPr lang="en-US" b="1">
                <a:solidFill>
                  <a:schemeClr val="tx2"/>
                </a:solidFill>
                <a:latin typeface="Aptos"/>
              </a:endParaRPr>
            </a:p>
            <a:p>
              <a:pPr algn="ctr"/>
              <a:r>
                <a:rPr lang="en-US" b="1">
                  <a:solidFill>
                    <a:srgbClr val="DC2626"/>
                  </a:solidFill>
                  <a:latin typeface="Aptos"/>
                </a:rPr>
                <a:t>EXTERNAL ATTACKER
</a:t>
              </a:r>
              <a:r>
                <a:rPr lang="en-US" sz="1200" b="1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No route in</a:t>
              </a:r>
              <a:endParaRPr lang="en-US" sz="1400" b="1">
                <a:solidFill>
                  <a:schemeClr val="bg1">
                    <a:lumMod val="50000"/>
                  </a:schemeClr>
                </a:solidFill>
                <a:latin typeface="Aptos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260D66A-5347-6C3C-DB2D-F0EEFE7599D0}"/>
                </a:ext>
              </a:extLst>
            </p:cNvPr>
            <p:cNvCxnSpPr/>
            <p:nvPr/>
          </p:nvCxnSpPr>
          <p:spPr>
            <a:xfrm>
              <a:off x="6687670" y="2124232"/>
              <a:ext cx="0" cy="147738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EB51034-3030-9B2F-2EE6-C2ADAD95C450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7041865" y="2921316"/>
            <a:ext cx="1002438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5F485D6-4602-C567-058D-F0EDAEA5733D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5731170" y="3643346"/>
            <a:ext cx="0" cy="67902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7653"/>
            <a:ext cx="109728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3000" b="1">
                <a:solidFill>
                  <a:srgbClr val="004AAD"/>
                </a:solidFill>
                <a:latin typeface="Aptos"/>
              </a:rPr>
              <a:t>The </a:t>
            </a:r>
            <a:r>
              <a:rPr lang="en-US" sz="3000" b="1" dirty="0">
                <a:solidFill>
                  <a:srgbClr val="004AAD"/>
                </a:solidFill>
                <a:latin typeface="Aptos"/>
              </a:rPr>
              <a:t>structure</a:t>
            </a:r>
            <a:r>
              <a:rPr lang="en-US" sz="3000" b="1">
                <a:solidFill>
                  <a:srgbClr val="004AAD"/>
                </a:solidFill>
                <a:latin typeface="Aptos"/>
              </a:rPr>
              <a:t>: </a:t>
            </a:r>
            <a:r>
              <a:rPr lang="en-US" sz="3000" b="1" dirty="0">
                <a:solidFill>
                  <a:srgbClr val="0F172A"/>
                </a:solidFill>
                <a:latin typeface="Aptos"/>
              </a:rPr>
              <a:t>Three</a:t>
            </a:r>
            <a:r>
              <a:rPr sz="3000" b="1" dirty="0">
                <a:solidFill>
                  <a:srgbClr val="0F172A"/>
                </a:solidFill>
                <a:latin typeface="Aptos"/>
              </a:rPr>
              <a:t> </a:t>
            </a:r>
            <a:r>
              <a:rPr lang="en-US" sz="3000" b="1" dirty="0">
                <a:solidFill>
                  <a:srgbClr val="0F172A"/>
                </a:solidFill>
                <a:latin typeface="Aptos"/>
              </a:rPr>
              <a:t>Virtual Machines</a:t>
            </a:r>
            <a:endParaRPr sz="300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45A6B4C-8BF7-890B-EEA3-773F04EF1C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426"/>
          <a:stretch>
            <a:fillRect/>
          </a:stretch>
        </p:blipFill>
        <p:spPr>
          <a:xfrm>
            <a:off x="990432" y="1246488"/>
            <a:ext cx="10211135" cy="45416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7653"/>
            <a:ext cx="109728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dirty="0">
                <a:solidFill>
                  <a:srgbClr val="0F172A"/>
                </a:solidFill>
                <a:latin typeface="Aptos"/>
              </a:rPr>
              <a:t>How </a:t>
            </a:r>
            <a:r>
              <a:rPr lang="en-US" sz="3000" b="1" dirty="0">
                <a:solidFill>
                  <a:srgbClr val="0F172A"/>
                </a:solidFill>
                <a:latin typeface="Aptos"/>
              </a:rPr>
              <a:t>the</a:t>
            </a:r>
            <a:r>
              <a:rPr sz="3000" b="1" dirty="0">
                <a:solidFill>
                  <a:srgbClr val="0F172A"/>
                </a:solidFill>
                <a:latin typeface="Aptos"/>
              </a:rPr>
              <a:t> VPN works</a:t>
            </a:r>
            <a:r>
              <a:rPr lang="en-US" sz="3000" b="1" dirty="0">
                <a:solidFill>
                  <a:srgbClr val="0F172A"/>
                </a:solidFill>
                <a:latin typeface="Aptos"/>
              </a:rPr>
              <a:t>:</a:t>
            </a:r>
            <a:endParaRPr sz="300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969374"/>
            <a:ext cx="107899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64748B"/>
                </a:solidFill>
                <a:latin typeface="Aptos"/>
              </a:rPr>
              <a:t>creates a virtual interface,</a:t>
            </a:r>
            <a:r>
              <a:rPr lang="en-US" sz="1300" b="0">
                <a:solidFill>
                  <a:srgbClr val="64748B"/>
                </a:solidFill>
                <a:latin typeface="Aptos"/>
              </a:rPr>
              <a:t> authenticates, </a:t>
            </a:r>
            <a:r>
              <a:rPr sz="1300" b="0" dirty="0">
                <a:solidFill>
                  <a:srgbClr val="64748B"/>
                </a:solidFill>
                <a:latin typeface="Aptos"/>
              </a:rPr>
              <a:t>establishes TLS, then forwards IP packets.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60020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82496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74519"/>
            <a:ext cx="1783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TUN interface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1847088"/>
            <a:ext cx="4572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474720" y="160020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7659" y="1705356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2563EB"/>
                </a:solidFill>
                <a:latin typeface="Aptos"/>
              </a:rP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74519"/>
            <a:ext cx="1783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475569"/>
                </a:solidFill>
                <a:latin typeface="Aptos"/>
              </a:rPr>
              <a:t>TLS + certificates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15000" y="1847088"/>
            <a:ext cx="4572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63640" y="160020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39" y="1714499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2563EB"/>
                </a:solidFill>
                <a:latin typeface="Aptos"/>
              </a:rPr>
              <a:t>TUNNEL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6580" y="1924919"/>
            <a:ext cx="1783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0" dirty="0">
                <a:solidFill>
                  <a:srgbClr val="475569"/>
                </a:solidFill>
                <a:latin typeface="Aptos"/>
              </a:rPr>
              <a:t>Encrypt</a:t>
            </a:r>
            <a:r>
              <a:rPr sz="1400" b="0" dirty="0">
                <a:solidFill>
                  <a:srgbClr val="475569"/>
                </a:solidFill>
                <a:latin typeface="Aptos"/>
              </a:rPr>
              <a:t> packets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03920" y="1847088"/>
            <a:ext cx="4572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052559" y="160020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0" y="169164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2563EB"/>
                </a:solidFill>
                <a:latin typeface="Aptos"/>
              </a:rPr>
              <a:t>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5500" y="1930943"/>
            <a:ext cx="212597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475569"/>
                </a:solidFill>
                <a:latin typeface="Aptos"/>
              </a:rPr>
              <a:t>Route t</a:t>
            </a:r>
            <a:r>
              <a:rPr lang="en-US" sz="1400" b="0" dirty="0">
                <a:solidFill>
                  <a:srgbClr val="475569"/>
                </a:solidFill>
                <a:latin typeface="Aptos"/>
              </a:rPr>
              <a:t>hrough Gateway</a:t>
            </a:r>
            <a:endParaRPr sz="1400" b="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2960" y="2926080"/>
            <a:ext cx="10561320" cy="1965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25880" y="333577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06B6D4"/>
                </a:solidFill>
                <a:latin typeface="Aptos"/>
              </a:rPr>
              <a:t>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59" y="3610094"/>
            <a:ext cx="1645921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ptos"/>
              </a:rPr>
              <a:t>TUN </a:t>
            </a:r>
            <a:r>
              <a:rPr lang="en-US" sz="1800" b="1" dirty="0">
                <a:solidFill>
                  <a:srgbClr val="FFFFFF"/>
                </a:solidFill>
                <a:latin typeface="Aptos"/>
              </a:rPr>
              <a:t>interface</a:t>
            </a:r>
            <a:endParaRPr sz="1800" b="1" dirty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22" name="Connector 21"/>
          <p:cNvCxnSpPr>
            <a:cxnSpLocks/>
            <a:stCxn id="21" idx="3"/>
            <a:endCxn id="24" idx="1"/>
          </p:cNvCxnSpPr>
          <p:nvPr/>
        </p:nvCxnSpPr>
        <p:spPr>
          <a:xfrm flipV="1">
            <a:off x="2697480" y="3790188"/>
            <a:ext cx="1280159" cy="4572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23160" y="3449684"/>
            <a:ext cx="182880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06B6D4"/>
                </a:solidFill>
                <a:latin typeface="Aptos"/>
              </a:rPr>
              <a:t>TLS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7639" y="3401568"/>
            <a:ext cx="1965960" cy="777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ENCRYPTED
FRAMES</a:t>
            </a:r>
          </a:p>
        </p:txBody>
      </p:sp>
      <p:cxnSp>
        <p:nvCxnSpPr>
          <p:cNvPr id="25" name="Connector 24"/>
          <p:cNvCxnSpPr>
            <a:cxnSpLocks/>
            <a:stCxn id="24" idx="3"/>
            <a:endCxn id="26" idx="1"/>
          </p:cNvCxnSpPr>
          <p:nvPr/>
        </p:nvCxnSpPr>
        <p:spPr>
          <a:xfrm>
            <a:off x="5943599" y="3790188"/>
            <a:ext cx="1188721" cy="0"/>
          </a:xfrm>
          <a:prstGeom prst="line">
            <a:avLst/>
          </a:prstGeom>
          <a:ln w="381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132320" y="3401568"/>
            <a:ext cx="1965960" cy="777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GATEWAY
FORWARD</a:t>
            </a:r>
          </a:p>
        </p:txBody>
      </p:sp>
      <p:cxnSp>
        <p:nvCxnSpPr>
          <p:cNvPr id="27" name="Connector 26"/>
          <p:cNvCxnSpPr>
            <a:cxnSpLocks/>
            <a:stCxn id="26" idx="3"/>
            <a:endCxn id="28" idx="1"/>
          </p:cNvCxnSpPr>
          <p:nvPr/>
        </p:nvCxnSpPr>
        <p:spPr>
          <a:xfrm flipV="1">
            <a:off x="9098280" y="3783831"/>
            <a:ext cx="1012697" cy="6357"/>
          </a:xfrm>
          <a:prstGeom prst="line">
            <a:avLst/>
          </a:prstGeom>
          <a:ln w="381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10977" y="3460665"/>
            <a:ext cx="1029464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rgbClr val="16A34A"/>
                </a:solidFill>
                <a:latin typeface="Aptos"/>
              </a:rPr>
              <a:t>Internal Host</a:t>
            </a:r>
            <a:endParaRPr sz="1800" b="1" dirty="0">
              <a:solidFill>
                <a:srgbClr val="16A34A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0120" y="5332511"/>
            <a:ext cx="102412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0" dirty="0">
                <a:solidFill>
                  <a:srgbClr val="475569"/>
                </a:solidFill>
                <a:latin typeface="Aptos"/>
              </a:rPr>
              <a:t>The</a:t>
            </a:r>
            <a:r>
              <a:rPr sz="1400" b="0" dirty="0">
                <a:solidFill>
                  <a:srgbClr val="475569"/>
                </a:solidFill>
                <a:latin typeface="Aptos"/>
              </a:rPr>
              <a:t> client requires a CA, creates tun0, connects to the server, and wraps the socket in TLS.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What changes for the attacker?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64748B"/>
                </a:solidFill>
                <a:latin typeface="Aptos"/>
              </a:rPr>
              <a:t>The same malware behavior now hits a network boundary instead of an exposed host.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Aptos"/>
              </a:rPr>
              <a:t>BEFORE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2331720" cy="530352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DC2626"/>
                </a:solidFill>
                <a:latin typeface="Aptos"/>
              </a:rPr>
              <a:t>Discover </a:t>
            </a:r>
            <a:r>
              <a:rPr lang="en-US" sz="1400" b="1" dirty="0">
                <a:solidFill>
                  <a:srgbClr val="DC2626"/>
                </a:solidFill>
                <a:latin typeface="Aptos"/>
              </a:rPr>
              <a:t>host</a:t>
            </a:r>
            <a:endParaRPr sz="1400" b="1" dirty="0">
              <a:solidFill>
                <a:srgbClr val="DC2626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938528" y="2450592"/>
            <a:ext cx="0" cy="246888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2697480"/>
            <a:ext cx="2331720" cy="530352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DC2626"/>
                </a:solidFill>
                <a:latin typeface="Aptos"/>
              </a:rPr>
              <a:t>Connect directly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38528" y="3227832"/>
            <a:ext cx="0" cy="246888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3474720"/>
            <a:ext cx="2331720" cy="530352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D97706"/>
                </a:solidFill>
                <a:latin typeface="Aptos"/>
              </a:rPr>
              <a:t>Resolve</a:t>
            </a:r>
            <a:r>
              <a:rPr sz="1400" b="1" dirty="0">
                <a:solidFill>
                  <a:srgbClr val="D97706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D97706"/>
                </a:solidFill>
                <a:latin typeface="Aptos"/>
              </a:rPr>
              <a:t>DoH</a:t>
            </a:r>
            <a:endParaRPr sz="1400" b="1" dirty="0">
              <a:solidFill>
                <a:srgbClr val="D97706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938528" y="4005072"/>
            <a:ext cx="0" cy="246888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4251960"/>
            <a:ext cx="2331720" cy="530352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DC2626"/>
                </a:solidFill>
                <a:latin typeface="Aptos"/>
              </a:rPr>
              <a:t>Exfiltrate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426464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16A34A"/>
                </a:solidFill>
                <a:latin typeface="Aptos"/>
              </a:rPr>
              <a:t>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920240"/>
            <a:ext cx="2788920" cy="530352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16A34A"/>
                </a:solidFill>
                <a:latin typeface="Aptos"/>
              </a:rPr>
              <a:t>No public target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87568" y="2450592"/>
            <a:ext cx="0" cy="246888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7680" y="2697480"/>
            <a:ext cx="2788920" cy="53035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2563EB"/>
                </a:solidFill>
                <a:latin typeface="Aptos"/>
              </a:rPr>
              <a:t>Gateway is the only door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87568" y="3227832"/>
            <a:ext cx="0" cy="246888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97680" y="3474720"/>
            <a:ext cx="2788920" cy="530352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16A34A"/>
                </a:solidFill>
                <a:latin typeface="Aptos"/>
              </a:rPr>
              <a:t>No </a:t>
            </a:r>
            <a:r>
              <a:rPr lang="en-US" sz="1400" b="1" dirty="0">
                <a:solidFill>
                  <a:srgbClr val="16A34A"/>
                </a:solidFill>
                <a:latin typeface="Aptos"/>
              </a:rPr>
              <a:t>internal host </a:t>
            </a:r>
            <a:r>
              <a:rPr sz="1400" b="1" dirty="0">
                <a:solidFill>
                  <a:srgbClr val="16A34A"/>
                </a:solidFill>
                <a:latin typeface="Aptos"/>
              </a:rPr>
              <a:t>egress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87568" y="4005072"/>
            <a:ext cx="0" cy="246888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97680" y="4251960"/>
            <a:ext cx="2788920" cy="530352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16A34A"/>
                </a:solidFill>
                <a:latin typeface="Aptos"/>
              </a:rPr>
              <a:t>C2 path collapses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783080"/>
            <a:ext cx="379476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sz="1800" dirty="0">
                <a:solidFill>
                  <a:srgbClr val="0F172A"/>
                </a:solidFill>
                <a:latin typeface="Aptos"/>
              </a:rPr>
              <a:t>cannot directly reach</a:t>
            </a:r>
            <a:r>
              <a:rPr lang="en-US" sz="1800" dirty="0">
                <a:solidFill>
                  <a:srgbClr val="0F172A"/>
                </a:solidFill>
                <a:latin typeface="Aptos"/>
              </a:rPr>
              <a:t> internal</a:t>
            </a:r>
            <a:r>
              <a:rPr lang="en-US" dirty="0">
                <a:solidFill>
                  <a:srgbClr val="0F172A"/>
                </a:solidFill>
                <a:latin typeface="Aptos"/>
              </a:rPr>
              <a:t> </a:t>
            </a:r>
            <a:r>
              <a:rPr sz="1800" dirty="0">
                <a:solidFill>
                  <a:srgbClr val="0F172A"/>
                </a:solidFill>
                <a:latin typeface="Aptos"/>
              </a:rPr>
              <a:t>Host</a:t>
            </a:r>
            <a:br>
              <a:rPr lang="en-US" dirty="0">
                <a:solidFill>
                  <a:srgbClr val="0F172A"/>
                </a:solidFill>
                <a:latin typeface="Aptos"/>
              </a:rPr>
            </a:br>
            <a:r>
              <a:rPr sz="1800" b="1" dirty="0">
                <a:solidFill>
                  <a:srgbClr val="0F172A"/>
                </a:solidFill>
                <a:latin typeface="Aptos"/>
              </a:rPr>
              <a:t>
</a:t>
            </a:r>
            <a:r>
              <a:rPr sz="1800" dirty="0">
                <a:solidFill>
                  <a:srgbClr val="0F172A"/>
                </a:solidFill>
                <a:latin typeface="Aptos"/>
              </a:rPr>
              <a:t>must first defeat the</a:t>
            </a:r>
            <a:r>
              <a:rPr lang="en-US" sz="1800" dirty="0">
                <a:solidFill>
                  <a:srgbClr val="0F172A"/>
                </a:solidFill>
                <a:latin typeface="Aptos"/>
              </a:rPr>
              <a:t> VPN </a:t>
            </a:r>
            <a:r>
              <a:rPr sz="1800" dirty="0">
                <a:solidFill>
                  <a:srgbClr val="0F172A"/>
                </a:solidFill>
                <a:latin typeface="Aptos"/>
              </a:rPr>
              <a:t>gateway</a:t>
            </a:r>
            <a:endParaRPr lang="en-US" sz="180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435340" y="2029968"/>
            <a:ext cx="2194560" cy="31089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ATTACK SURFACE 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7653"/>
            <a:ext cx="109728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dirty="0">
                <a:solidFill>
                  <a:srgbClr val="0F172A"/>
                </a:solidFill>
                <a:latin typeface="Aptos"/>
              </a:rPr>
              <a:t>Why this is worth deploying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554480"/>
            <a:ext cx="566928" cy="5669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536192"/>
            <a:ext cx="4434840" cy="14173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rgbClr val="DC2626"/>
                </a:solidFill>
                <a:latin typeface="Aptos"/>
              </a:rPr>
              <a:t>REDUCE EXPOSURE
Remove public reachability to sensitive hosts.</a:t>
            </a:r>
          </a:p>
        </p:txBody>
      </p:sp>
      <p:sp>
        <p:nvSpPr>
          <p:cNvPr id="6" name="Oval 5"/>
          <p:cNvSpPr/>
          <p:nvPr/>
        </p:nvSpPr>
        <p:spPr>
          <a:xfrm>
            <a:off x="6263640" y="155448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79" y="1536192"/>
            <a:ext cx="4434840" cy="14173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700" b="1" dirty="0">
                <a:solidFill>
                  <a:srgbClr val="2563EB"/>
                </a:solidFill>
                <a:latin typeface="Aptos"/>
              </a:rPr>
              <a:t>MALWARE IS POWERLESS</a:t>
            </a:r>
            <a:r>
              <a:rPr sz="1700" b="1" dirty="0">
                <a:solidFill>
                  <a:srgbClr val="2563EB"/>
                </a:solidFill>
                <a:latin typeface="Aptos"/>
              </a:rPr>
              <a:t>
</a:t>
            </a:r>
            <a:r>
              <a:rPr lang="en-US" sz="1700" b="1" dirty="0">
                <a:solidFill>
                  <a:srgbClr val="2563EB"/>
                </a:solidFill>
                <a:latin typeface="Aptos"/>
              </a:rPr>
              <a:t>Malware can execute, but it cannot communicate.</a:t>
            </a:r>
            <a:endParaRPr sz="1700" b="1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85800" y="3611880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593592"/>
            <a:ext cx="4434840" cy="14173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rgbClr val="16A34A"/>
                </a:solidFill>
                <a:latin typeface="Aptos"/>
              </a:rPr>
              <a:t>KEEP ACCESS
Authorized users still reach the private </a:t>
            </a:r>
            <a:r>
              <a:rPr lang="en-US" sz="1700" b="1" dirty="0">
                <a:solidFill>
                  <a:srgbClr val="16A34A"/>
                </a:solidFill>
                <a:latin typeface="Aptos"/>
              </a:rPr>
              <a:t>host</a:t>
            </a:r>
            <a:r>
              <a:rPr sz="1700" b="1" dirty="0">
                <a:solidFill>
                  <a:srgbClr val="16A34A"/>
                </a:solidFill>
                <a:latin typeface="Aptos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3611880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79" y="3593592"/>
            <a:ext cx="4434840" cy="141732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700" b="1" dirty="0">
                <a:solidFill>
                  <a:srgbClr val="7C3AED"/>
                </a:solidFill>
                <a:latin typeface="Aptos"/>
              </a:rPr>
              <a:t>CENTRALIZE CONTROL</a:t>
            </a:r>
            <a:r>
              <a:rPr sz="1700" b="1" dirty="0">
                <a:solidFill>
                  <a:srgbClr val="7C3AED"/>
                </a:solidFill>
                <a:latin typeface="Aptos"/>
              </a:rPr>
              <a:t>
</a:t>
            </a:r>
            <a:r>
              <a:rPr lang="en-US" sz="1700" b="1" dirty="0">
                <a:solidFill>
                  <a:srgbClr val="7C3AED"/>
                </a:solidFill>
                <a:latin typeface="Aptos"/>
              </a:rPr>
              <a:t>Manage access and traffic from a single gateway.</a:t>
            </a:r>
            <a:endParaRPr sz="1700" b="1" dirty="0">
              <a:solidFill>
                <a:srgbClr val="7C3AED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600200" y="5669280"/>
            <a:ext cx="8961120" cy="56692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DON’T CHASE THE DOMAINS. CUT OFF THE ROUTE.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DAC63DF78EFD44A4F1D9FA1BB13B3C" ma:contentTypeVersion="6" ma:contentTypeDescription="Create a new document." ma:contentTypeScope="" ma:versionID="8347cf7492a8bd305bf5c556b90ff775">
  <xsd:schema xmlns:xsd="http://www.w3.org/2001/XMLSchema" xmlns:xs="http://www.w3.org/2001/XMLSchema" xmlns:p="http://schemas.microsoft.com/office/2006/metadata/properties" xmlns:ns3="b958f70a-1868-4bbb-b0b4-ad2bb9bee707" targetNamespace="http://schemas.microsoft.com/office/2006/metadata/properties" ma:root="true" ma:fieldsID="6e29713caad0772560c6dd4681f3bc92" ns3:_="">
    <xsd:import namespace="b958f70a-1868-4bbb-b0b4-ad2bb9bee70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58f70a-1868-4bbb-b0b4-ad2bb9bee70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58f70a-1868-4bbb-b0b4-ad2bb9bee70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D7F3C9-9898-4704-84BD-4B7ECA739D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58f70a-1868-4bbb-b0b4-ad2bb9bee7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C8B597F-C444-42CC-BC4D-C14109676AD4}">
  <ds:schemaRefs>
    <ds:schemaRef ds:uri="http://schemas.microsoft.com/office/2006/documentManagement/types"/>
    <ds:schemaRef ds:uri="http://purl.org/dc/elements/1.1/"/>
    <ds:schemaRef ds:uri="b958f70a-1868-4bbb-b0b4-ad2bb9bee707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634CB1A-EB99-4A27-A348-38ECA9F8C05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463</Words>
  <Application>Microsoft Office PowerPoint</Application>
  <PresentationFormat>Widescreen</PresentationFormat>
  <Paragraphs>108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ADLaM Display</vt:lpstr>
      <vt:lpstr>Aharoni</vt:lpstr>
      <vt:lpstr>Aptos</vt:lpstr>
      <vt:lpstr>Arial</vt:lpstr>
      <vt:lpstr>Calibri</vt:lpstr>
      <vt:lpstr>League Spartan</vt:lpstr>
      <vt:lpstr>Poppins</vt:lpstr>
      <vt:lpstr>Roboto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MOHAMMAD TALAL WAJEEH BAKEER</cp:lastModifiedBy>
  <cp:revision>4</cp:revision>
  <dcterms:created xsi:type="dcterms:W3CDTF">2013-01-27T09:14:16Z</dcterms:created>
  <dcterms:modified xsi:type="dcterms:W3CDTF">2026-08-14T18:25:59Z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0x010100BFDAC63DF78EFD44A4F1D9FA1BB13B3C</vt:lpwstr>
  </property>
</Properties>
</file>